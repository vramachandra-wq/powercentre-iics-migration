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1" userDrawn="1">
          <p15:clr>
            <a:srgbClr val="A4A3A4"/>
          </p15:clr>
        </p15:guide>
        <p15:guide id="2" pos="2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41"/>
        <p:guide pos="283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Segoe UI" panose="020B0502040204020203"/>
              </a:rPr>
              <a:t>PowerCenter → IICS / IDMC Migration Accelerator</a:t>
            </a:r>
            <a:endParaRPr sz="2400" b="1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3856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 panose="020B0502040204020203"/>
              </a:rPr>
              <a:t>Enterprise </a:t>
            </a:r>
            <a:r>
              <a:rPr lang="en-US" sz="1200" b="0">
                <a:solidFill>
                  <a:srgbClr val="94A3B8"/>
                </a:solidFill>
                <a:latin typeface="Segoe UI" panose="020B0502040204020203"/>
              </a:rPr>
              <a:t>level Data M</a:t>
            </a:r>
            <a:r>
              <a:rPr sz="1200" b="0">
                <a:solidFill>
                  <a:srgbClr val="94A3B8"/>
                </a:solidFill>
                <a:latin typeface="Segoe UI" panose="020B0502040204020203"/>
              </a:rPr>
              <a:t>igration </a:t>
            </a:r>
            <a:r>
              <a:rPr lang="en-US" sz="1200" b="0">
                <a:solidFill>
                  <a:srgbClr val="94A3B8"/>
                </a:solidFill>
                <a:latin typeface="Segoe UI" panose="020B0502040204020203"/>
              </a:rPr>
              <a:t>P</a:t>
            </a:r>
            <a:r>
              <a:rPr sz="1200" b="0">
                <a:solidFill>
                  <a:srgbClr val="94A3B8"/>
                </a:solidFill>
                <a:latin typeface="Segoe UI" panose="020B0502040204020203"/>
              </a:rPr>
              <a:t>latform —  enterprise scale planned</a:t>
            </a:r>
            <a:endParaRPr sz="1200" b="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1480" y="1051560"/>
            <a:ext cx="3794760" cy="489204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" name="TextBox 5"/>
          <p:cNvSpPr txBox="1"/>
          <p:nvPr/>
        </p:nvSpPr>
        <p:spPr>
          <a:xfrm>
            <a:off x="521208" y="1143000"/>
            <a:ext cx="3575304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Segoe UI" panose="020B0502040204020203"/>
              </a:rPr>
              <a:t>1 · PROVEN DELIVERY </a:t>
            </a:r>
            <a:endParaRPr sz="1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90472"/>
            <a:ext cx="3520440" cy="23279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chemeClr val="bg1"/>
                </a:solidFill>
                <a:latin typeface="Segoe UI" panose="020B0502040204020203"/>
              </a:rPr>
              <a:t>▸  End-to-end pipeline: PC XML → canonical metadata → validation → remediation → IICS export</a:t>
            </a:r>
            <a:endParaRPr sz="1200">
              <a:solidFill>
                <a:schemeClr val="bg1"/>
              </a:solidFill>
              <a:latin typeface="Segoe UI" panose="020B0502040204020203"/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chemeClr val="bg1"/>
                </a:solidFill>
                <a:latin typeface="Segoe UI" panose="020B0502040204020203"/>
              </a:rPr>
              <a:t>▸  Rule-based auto-remediation with remediated XML &amp; import-ready IDMC packages</a:t>
            </a:r>
            <a:endParaRPr sz="1200">
              <a:solidFill>
                <a:schemeClr val="bg1"/>
              </a:solidFill>
              <a:latin typeface="Segoe UI" panose="020B0502040204020203"/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chemeClr val="bg1"/>
                </a:solidFill>
                <a:latin typeface="Segoe UI" panose="020B0502040204020203"/>
              </a:rPr>
              <a:t>▸  Enterprise migration reports, readiness scores &amp; consolidated dashboards</a:t>
            </a:r>
            <a:endParaRPr sz="1200">
              <a:solidFill>
                <a:schemeClr val="bg1"/>
              </a:solidFill>
              <a:latin typeface="Segoe UI" panose="020B0502040204020203"/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chemeClr val="bg1"/>
                </a:solidFill>
                <a:latin typeface="Segoe UI" panose="020B0502040204020203"/>
              </a:rPr>
              <a:t>▸  AI-assisted validation &amp; recommendations (FastAPI + Streamlit)</a:t>
            </a:r>
            <a:endParaRPr sz="1200">
              <a:solidFill>
                <a:schemeClr val="bg1"/>
              </a:solidFill>
              <a:latin typeface="Segoe UI" panose="020B0502040204020203"/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chemeClr val="bg1"/>
                </a:solidFill>
                <a:latin typeface="Segoe UI" panose="020B0502040204020203"/>
              </a:rPr>
              <a:t>▸  MySQL central repository for metadata governance &amp; future PC-vs-IICS comparison</a:t>
            </a:r>
            <a:endParaRPr sz="1200">
              <a:solidFill>
                <a:schemeClr val="bg1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3996055"/>
            <a:ext cx="1691640" cy="542925"/>
          </a:xfrm>
          <a:prstGeom prst="roundRect">
            <a:avLst/>
          </a:prstGeom>
          <a:solidFill>
            <a:srgbClr val="1E3A5A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" name="TextBox 8"/>
          <p:cNvSpPr txBox="1"/>
          <p:nvPr/>
        </p:nvSpPr>
        <p:spPr>
          <a:xfrm>
            <a:off x="548640" y="4070985"/>
            <a:ext cx="169164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8BDF8"/>
                </a:solidFill>
                <a:latin typeface="Segoe UI" panose="020B0502040204020203"/>
              </a:rPr>
              <a:t>98.5%</a:t>
            </a:r>
            <a:endParaRPr sz="1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4281297"/>
            <a:ext cx="169164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 panose="020B0502040204020203"/>
              </a:rPr>
              <a:t>VALIDATION PASS</a:t>
            </a:r>
            <a:endParaRPr sz="1200" b="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377440" y="4036060"/>
            <a:ext cx="1691640" cy="517525"/>
          </a:xfrm>
          <a:prstGeom prst="roundRect">
            <a:avLst/>
          </a:prstGeom>
          <a:solidFill>
            <a:srgbClr val="1E3A5A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2377440" y="4070985"/>
            <a:ext cx="169164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8BDF8"/>
                </a:solidFill>
                <a:latin typeface="Segoe UI" panose="020B0502040204020203"/>
              </a:rPr>
              <a:t>99.3%</a:t>
            </a:r>
            <a:endParaRPr sz="1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77440" y="4281297"/>
            <a:ext cx="169164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 panose="020B0502040204020203"/>
              </a:rPr>
              <a:t>AUTO-FIX RATE</a:t>
            </a:r>
            <a:endParaRPr sz="1200" b="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97890" y="4648835"/>
            <a:ext cx="2741295" cy="502920"/>
          </a:xfrm>
          <a:prstGeom prst="roundRect">
            <a:avLst/>
          </a:prstGeom>
          <a:solidFill>
            <a:srgbClr val="1E3A5A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897890" y="4665345"/>
            <a:ext cx="2741295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8BDF8"/>
                </a:solidFill>
                <a:latin typeface="Segoe UI" panose="020B0502040204020203"/>
              </a:rPr>
              <a:t>92%</a:t>
            </a:r>
            <a:endParaRPr sz="1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7890" y="4875530"/>
            <a:ext cx="2741295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 panose="020B0502040204020203"/>
              </a:rPr>
              <a:t>READINESS SCORE</a:t>
            </a:r>
            <a:endParaRPr sz="1200" b="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31995" y="1051560"/>
            <a:ext cx="3794760" cy="489204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4641723" y="1143000"/>
            <a:ext cx="3575304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Segoe UI" panose="020B0502040204020203"/>
              </a:rPr>
              <a:t>2 · LONG-RUN SERVICES (6,000–7,000 ASSETS)</a:t>
            </a:r>
            <a:endParaRPr sz="1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69155" y="1490345"/>
            <a:ext cx="3520440" cy="403923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chemeClr val="bg1"/>
                </a:solidFill>
                <a:latin typeface="Segoe UI" panose="020B0502040204020203"/>
              </a:rPr>
              <a:t>▸  Batch metadata extraction — workflows, mappings, transformations at enterprise volume</a:t>
            </a:r>
            <a:r>
              <a:rPr lang="en-US" sz="1200">
                <a:solidFill>
                  <a:schemeClr val="bg1"/>
                </a:solidFill>
                <a:latin typeface="Segoe UI" panose="020B0502040204020203"/>
              </a:rPr>
              <a:t> </a:t>
            </a:r>
            <a:r>
              <a:rPr lang="en-US" sz="1200">
                <a:solidFill>
                  <a:schemeClr val="bg1"/>
                </a:solidFill>
                <a:latin typeface="Segoe UI" panose="020B0502040204020203"/>
                <a:sym typeface="+mn-ea"/>
              </a:rPr>
              <a:t>-</a:t>
            </a:r>
            <a:r>
              <a:rPr lang="en-US" sz="1200" b="1" u="sng">
                <a:solidFill>
                  <a:schemeClr val="bg1"/>
                </a:solidFill>
                <a:latin typeface="Segoe UI" panose="020B0502040204020203"/>
                <a:sym typeface="+mn-ea"/>
              </a:rPr>
              <a:t>Need Enhancement</a:t>
            </a:r>
            <a:endParaRPr sz="1200">
              <a:solidFill>
                <a:schemeClr val="bg1"/>
              </a:solidFill>
              <a:latin typeface="Segoe UI" panose="020B0502040204020203"/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chemeClr val="bg1"/>
                </a:solidFill>
                <a:latin typeface="Segoe UI" panose="020B0502040204020203"/>
              </a:rPr>
              <a:t>▸  Scaled validation &amp; remediation — datatype harmonization, rule engine, XML auto-fix</a:t>
            </a:r>
            <a:r>
              <a:rPr lang="en-US" sz="1200">
                <a:solidFill>
                  <a:schemeClr val="bg1"/>
                </a:solidFill>
                <a:latin typeface="Segoe UI" panose="020B0502040204020203"/>
              </a:rPr>
              <a:t> - </a:t>
            </a:r>
            <a:r>
              <a:rPr lang="en-US" sz="1200" b="1" u="sng">
                <a:solidFill>
                  <a:schemeClr val="bg1"/>
                </a:solidFill>
                <a:latin typeface="Segoe UI" panose="020B0502040204020203"/>
              </a:rPr>
              <a:t>Need Enhancement.</a:t>
            </a:r>
            <a:endParaRPr sz="1200" b="1" u="sng">
              <a:solidFill>
                <a:schemeClr val="bg1"/>
              </a:solidFill>
              <a:latin typeface="Segoe UI" panose="020B0502040204020203"/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chemeClr val="bg1"/>
                </a:solidFill>
                <a:latin typeface="Segoe UI" panose="020B0502040204020203"/>
              </a:rPr>
              <a:t>▸  IICS / IDMC package factory — bulk DTEMPLATE, MTT, TASKFLOW generation &amp; import validation</a:t>
            </a:r>
            <a:r>
              <a:rPr lang="en-US" sz="1200">
                <a:solidFill>
                  <a:schemeClr val="bg1"/>
                </a:solidFill>
                <a:latin typeface="Segoe UI" panose="020B0502040204020203"/>
              </a:rPr>
              <a:t> </a:t>
            </a:r>
            <a:r>
              <a:rPr lang="en-US" sz="1200">
                <a:solidFill>
                  <a:schemeClr val="bg1"/>
                </a:solidFill>
                <a:latin typeface="Segoe UI" panose="020B0502040204020203"/>
                <a:sym typeface="+mn-ea"/>
              </a:rPr>
              <a:t>- </a:t>
            </a:r>
            <a:r>
              <a:rPr lang="en-US" sz="1200" b="1" u="sng">
                <a:solidFill>
                  <a:schemeClr val="bg1"/>
                </a:solidFill>
                <a:latin typeface="Segoe UI" panose="020B0502040204020203"/>
                <a:sym typeface="+mn-ea"/>
              </a:rPr>
              <a:t>Need Enhancement &amp; Access to accomplish the same.</a:t>
            </a:r>
            <a:endParaRPr sz="1200">
              <a:solidFill>
                <a:schemeClr val="bg1"/>
              </a:solidFill>
              <a:latin typeface="Segoe UI" panose="020B0502040204020203"/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chemeClr val="bg1"/>
                </a:solidFill>
                <a:latin typeface="Segoe UI" panose="020B0502040204020203"/>
              </a:rPr>
              <a:t>▸  Migration intelligence — complexity scoring, risk assessment, executive dashboards</a:t>
            </a:r>
            <a:r>
              <a:rPr lang="en-US" sz="1200">
                <a:solidFill>
                  <a:schemeClr val="bg1"/>
                </a:solidFill>
                <a:latin typeface="Segoe UI" panose="020B0502040204020203"/>
              </a:rPr>
              <a:t> - C</a:t>
            </a:r>
            <a:r>
              <a:rPr lang="en-US" sz="1200" b="1">
                <a:solidFill>
                  <a:schemeClr val="bg1"/>
                </a:solidFill>
                <a:latin typeface="Segoe UI" panose="020B0502040204020203"/>
              </a:rPr>
              <a:t>ompleted for now.</a:t>
            </a:r>
            <a:endParaRPr sz="1200">
              <a:solidFill>
                <a:schemeClr val="bg1"/>
              </a:solidFill>
              <a:latin typeface="Segoe UI" panose="020B0502040204020203"/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chemeClr val="bg1"/>
                </a:solidFill>
                <a:latin typeface="Segoe UI" panose="020B0502040204020203"/>
              </a:rPr>
              <a:t>▸  AI remediation studio — complex patterns (Stored Proc, Java, CDC, SAP) with guided fixes</a:t>
            </a:r>
            <a:r>
              <a:rPr lang="en-US" sz="1200">
                <a:solidFill>
                  <a:schemeClr val="bg1"/>
                </a:solidFill>
                <a:latin typeface="Segoe UI" panose="020B0502040204020203"/>
              </a:rPr>
              <a:t> </a:t>
            </a:r>
            <a:endParaRPr sz="1200">
              <a:solidFill>
                <a:schemeClr val="bg1"/>
              </a:solidFill>
              <a:latin typeface="Segoe UI" panose="020B0502040204020203"/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chemeClr val="bg1"/>
                </a:solidFill>
                <a:latin typeface="Segoe UI" panose="020B0502040204020203"/>
              </a:rPr>
              <a:t>▸  Lineage &amp; PC-vs-IICS comparison — central repository diff, drift tracking, cutover readiness</a:t>
            </a:r>
            <a:endParaRPr sz="1200">
              <a:solidFill>
                <a:schemeClr val="bg1"/>
              </a:solidFill>
              <a:latin typeface="Segoe UI" panose="020B0502040204020203"/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chemeClr val="bg1"/>
                </a:solidFill>
                <a:latin typeface="Segoe UI" panose="020B0502040204020203"/>
              </a:rPr>
              <a:t>▸  CI/CD &amp; automation ops — scheduled runs, GitHub Actions, API-driven migration factory</a:t>
            </a:r>
            <a:endParaRPr sz="1200">
              <a:solidFill>
                <a:schemeClr val="bg1"/>
              </a:solidFill>
              <a:latin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684260" y="1051560"/>
            <a:ext cx="3063240" cy="489204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8793988" y="1143000"/>
            <a:ext cx="2843784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Segoe UI" panose="020B0502040204020203"/>
              </a:rPr>
              <a:t>3 · PROGRAM TIMELINE</a:t>
            </a:r>
            <a:endParaRPr sz="1200" b="1">
              <a:solidFill>
                <a:srgbClr val="A78BFA"/>
              </a:solidFill>
              <a:latin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21420" y="1554480"/>
            <a:ext cx="1952243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 panose="020B0502040204020203"/>
              </a:rPr>
              <a:t>Core delivery</a:t>
            </a:r>
            <a:endParaRPr sz="1200" b="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773664" y="1554480"/>
            <a:ext cx="836676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Segoe UI" panose="020B0502040204020203"/>
              </a:rPr>
              <a:t>9 months</a:t>
            </a:r>
            <a:endParaRPr sz="1200" b="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821420" y="1896110"/>
            <a:ext cx="278892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8" name="TextBox 27"/>
          <p:cNvSpPr txBox="1"/>
          <p:nvPr/>
        </p:nvSpPr>
        <p:spPr>
          <a:xfrm>
            <a:off x="8821420" y="1917065"/>
            <a:ext cx="2788920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Build · Migrate · Validate · Export</a:t>
            </a:r>
            <a:endParaRPr sz="1200" b="1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21420" y="2240280"/>
            <a:ext cx="1952243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 panose="020B0502040204020203"/>
              </a:rPr>
              <a:t>Risk buffer</a:t>
            </a:r>
            <a:endParaRPr sz="1200" b="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773664" y="2240280"/>
            <a:ext cx="836676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Segoe UI" panose="020B0502040204020203"/>
              </a:rPr>
              <a:t>2 months</a:t>
            </a:r>
            <a:endParaRPr sz="1200" b="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821420" y="2566035"/>
            <a:ext cx="2788920" cy="48895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2" name="TextBox 31"/>
          <p:cNvSpPr txBox="1"/>
          <p:nvPr/>
        </p:nvSpPr>
        <p:spPr>
          <a:xfrm>
            <a:off x="8821420" y="2575243"/>
            <a:ext cx="278892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Complex</a:t>
            </a:r>
            <a:r>
              <a:rPr lang="en-US" sz="1200" b="1">
                <a:solidFill>
                  <a:srgbClr val="F8FAFC"/>
                </a:solidFill>
                <a:latin typeface="Segoe UI" panose="020B0502040204020203"/>
              </a:rPr>
              <a:t>, Testing , Handover </a:t>
            </a: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assets · Regression · Cutover</a:t>
            </a:r>
            <a:endParaRPr sz="1200" b="1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21420" y="3054985"/>
            <a:ext cx="1952243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 panose="020B0502040204020203"/>
              </a:rPr>
              <a:t>Total program</a:t>
            </a:r>
            <a:endParaRPr sz="1200" b="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445750" y="3046730"/>
            <a:ext cx="1164590" cy="29400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Segoe UI" panose="020B0502040204020203"/>
              </a:rPr>
              <a:t>11 months</a:t>
            </a:r>
            <a:endParaRPr sz="1200" b="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821420" y="3396615"/>
            <a:ext cx="2281843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6" name="TextBox 35"/>
          <p:cNvSpPr txBox="1"/>
          <p:nvPr/>
        </p:nvSpPr>
        <p:spPr>
          <a:xfrm>
            <a:off x="8821420" y="3418840"/>
            <a:ext cx="2281843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9 mo</a:t>
            </a:r>
            <a:r>
              <a:rPr lang="en-US" sz="1200" b="1">
                <a:solidFill>
                  <a:srgbClr val="F8FAFC"/>
                </a:solidFill>
                <a:latin typeface="Segoe UI" panose="020B0502040204020203"/>
              </a:rPr>
              <a:t>nths</a:t>
            </a:r>
            <a:endParaRPr lang="en-US" sz="1200" b="1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1103263" y="3396615"/>
            <a:ext cx="507076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8" name="TextBox 37"/>
          <p:cNvSpPr txBox="1"/>
          <p:nvPr/>
        </p:nvSpPr>
        <p:spPr>
          <a:xfrm>
            <a:off x="11130568" y="3399790"/>
            <a:ext cx="507076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+2</a:t>
            </a:r>
            <a:endParaRPr sz="1200" b="1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821420" y="3786505"/>
            <a:ext cx="27889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78BFA"/>
                </a:solidFill>
                <a:latin typeface="Segoe UI" panose="020B0502040204020203"/>
              </a:rPr>
              <a:t>11 Months</a:t>
            </a:r>
            <a:endParaRPr sz="1200" b="1">
              <a:solidFill>
                <a:srgbClr val="A78BFA"/>
              </a:solidFill>
              <a:latin typeface="Segoe UI" panose="020B05020402040202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821420" y="3977640"/>
            <a:ext cx="27889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 panose="020B0502040204020203"/>
              </a:rPr>
              <a:t>9 months execution + 2 months buffer</a:t>
            </a:r>
            <a:endParaRPr sz="1200" b="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11480" y="6080760"/>
            <a:ext cx="11338560" cy="127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2" name="TextBox 41"/>
          <p:cNvSpPr txBox="1"/>
          <p:nvPr/>
        </p:nvSpPr>
        <p:spPr>
          <a:xfrm>
            <a:off x="411480" y="6172200"/>
            <a:ext cx="4081780" cy="67691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n-US" sz="1200" b="0">
                <a:solidFill>
                  <a:srgbClr val="94A3B8"/>
                </a:solidFill>
                <a:latin typeface="Segoe UI" panose="020B0502040204020203"/>
              </a:rPr>
              <a:t>S</a:t>
            </a:r>
            <a:r>
              <a:rPr sz="1200" b="0">
                <a:solidFill>
                  <a:srgbClr val="94A3B8"/>
                </a:solidFill>
                <a:latin typeface="Segoe UI" panose="020B0502040204020203"/>
              </a:rPr>
              <a:t>cope: 14 XML files · 23 mappings · 202 canonical assets · Custom_Project IDMC export</a:t>
            </a:r>
            <a:endParaRPr sz="1200" b="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206240" y="6172200"/>
            <a:ext cx="7651750" cy="4254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US" altLang="en-US" sz="1200" b="1">
                <a:solidFill>
                  <a:srgbClr val="67E8F9"/>
                </a:solidFill>
                <a:latin typeface="Segoe UI" panose="020B0502040204020203"/>
              </a:rPr>
              <a:t>Platform Ready for Enterprise Scale-Up</a:t>
            </a:r>
            <a:endParaRPr lang="en-US" altLang="en-US" sz="1200" b="1">
              <a:solidFill>
                <a:srgbClr val="67E8F9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1716</Words>
  <Application>WPS Presentation</Application>
  <PresentationFormat>On-screen Show (4:3)</PresentationFormat>
  <Paragraphs>64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Arial</vt:lpstr>
      <vt:lpstr>Segoe UI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Vinay Ramachandra</cp:lastModifiedBy>
  <cp:revision>6</cp:revision>
  <dcterms:created xsi:type="dcterms:W3CDTF">2013-01-27T09:14:00Z</dcterms:created>
  <dcterms:modified xsi:type="dcterms:W3CDTF">2026-07-14T10:03:00Z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22592E26CBDB4CAFB543E6A8C3B183D5_12</vt:lpwstr>
  </property>
</Properties>
</file>